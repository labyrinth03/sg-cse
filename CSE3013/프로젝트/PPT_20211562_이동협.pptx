
<file path=[Content_Types].xml><?xml version="1.0" encoding="utf-8"?>
<Types xmlns="http://schemas.openxmlformats.org/package/2006/content-types">
  <Default Extension="jpeg" ContentType="image/jpeg"/>
  <Default Extension="mkv" ContentType="video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391" autoAdjust="0"/>
  </p:normalViewPr>
  <p:slideViewPr>
    <p:cSldViewPr snapToGrid="0">
      <p:cViewPr varScale="1">
        <p:scale>
          <a:sx n="87" d="100"/>
          <a:sy n="87" d="100"/>
        </p:scale>
        <p:origin x="15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D848C-86D8-4EA3-9CAC-FBF4CA9FBFF0}" type="datetimeFigureOut">
              <a:rPr lang="ko-KR" altLang="en-US" smtClean="0"/>
              <a:t>2024-06-25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0DA82-9B53-41F8-BFBC-F16DDAD297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22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 소프트웨어 개발도구 및 환경 실습 최종프로젝트 발표를 진행하게 된 </a:t>
            </a:r>
            <a:r>
              <a:rPr lang="ko-KR" altLang="en-US" dirty="0" err="1"/>
              <a:t>이동협입니다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942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프로젝트의 목표 및 실험이 진행된 환경</a:t>
            </a:r>
            <a:r>
              <a:rPr lang="en-US" altLang="ko-KR" dirty="0"/>
              <a:t>, </a:t>
            </a:r>
            <a:r>
              <a:rPr lang="ko-KR" altLang="en-US" dirty="0"/>
              <a:t>프로그램의 변수 및 구현 함수 설명</a:t>
            </a:r>
            <a:r>
              <a:rPr lang="en-US" altLang="ko-KR" dirty="0"/>
              <a:t>, </a:t>
            </a:r>
            <a:r>
              <a:rPr lang="ko-KR" altLang="en-US" dirty="0"/>
              <a:t>프로그램 시연 영상</a:t>
            </a:r>
            <a:r>
              <a:rPr lang="en-US" altLang="ko-KR" dirty="0"/>
              <a:t>, </a:t>
            </a:r>
            <a:r>
              <a:rPr lang="ko-KR" altLang="en-US" dirty="0"/>
              <a:t>느낀 점 및 개선사항으로 이루어지겠습니다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02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</a:t>
            </a:r>
            <a:r>
              <a:rPr lang="en-US" altLang="ko-KR" dirty="0"/>
              <a:t>,</a:t>
            </a:r>
            <a:r>
              <a:rPr lang="ko-KR" altLang="en-US" dirty="0"/>
              <a:t> 프로젝트 목표 및 실험 환경입니다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프로젝트의 목표는 랜덤시작지점과 탈출지점이 설정되었을 때 </a:t>
            </a:r>
            <a:r>
              <a:rPr lang="en-US" altLang="ko-KR" dirty="0"/>
              <a:t>DFS </a:t>
            </a:r>
            <a:r>
              <a:rPr lang="ko-KR" altLang="en-US" dirty="0"/>
              <a:t>알고리즘의 경로탐색이 어떻게 이루어지는지 확인하고 각 케이스에 따라 어떤 경우에 </a:t>
            </a:r>
            <a:r>
              <a:rPr lang="en-US" altLang="ko-KR" dirty="0"/>
              <a:t>DFS</a:t>
            </a:r>
            <a:r>
              <a:rPr lang="ko-KR" altLang="en-US" dirty="0"/>
              <a:t>가 효율적이고 어떤 경우에 </a:t>
            </a:r>
            <a:r>
              <a:rPr lang="en-US" altLang="ko-KR" dirty="0"/>
              <a:t>DFS</a:t>
            </a:r>
            <a:r>
              <a:rPr lang="ko-KR" altLang="en-US" dirty="0"/>
              <a:t>가 비효율적인지 확인해보고자 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063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프로젝트의 실험 환경은 위와 같습니다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2217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저는 미로를 저장할 자료구조로 그래프를 선택하였습니다</a:t>
            </a:r>
            <a:r>
              <a:rPr lang="en-US" altLang="ko-KR" dirty="0"/>
              <a:t>. </a:t>
            </a:r>
            <a:r>
              <a:rPr lang="ko-KR" altLang="en-US" dirty="0"/>
              <a:t>그래서 구조체로 그래프를 선언하여 멤버변수로 방 번호</a:t>
            </a:r>
            <a:r>
              <a:rPr lang="en-US" altLang="ko-KR" dirty="0"/>
              <a:t>, </a:t>
            </a:r>
            <a:r>
              <a:rPr lang="ko-KR" altLang="en-US" dirty="0"/>
              <a:t>오른쪽 방이 </a:t>
            </a:r>
            <a:r>
              <a:rPr lang="ko-KR" altLang="en-US" dirty="0" err="1"/>
              <a:t>열려있는지</a:t>
            </a:r>
            <a:r>
              <a:rPr lang="en-US" altLang="ko-KR" dirty="0"/>
              <a:t>, </a:t>
            </a:r>
            <a:r>
              <a:rPr lang="ko-KR" altLang="en-US"/>
              <a:t>아래쪽 방이 </a:t>
            </a:r>
            <a:r>
              <a:rPr lang="ko-KR" altLang="en-US" dirty="0" err="1"/>
              <a:t>열려있는지</a:t>
            </a:r>
            <a:r>
              <a:rPr lang="en-US" altLang="ko-KR" dirty="0"/>
              <a:t>, X</a:t>
            </a:r>
            <a:r>
              <a:rPr lang="ko-KR" altLang="en-US" dirty="0"/>
              <a:t>좌표</a:t>
            </a:r>
            <a:r>
              <a:rPr lang="en-US" altLang="ko-KR" dirty="0"/>
              <a:t>,Y</a:t>
            </a:r>
            <a:r>
              <a:rPr lang="ko-KR" altLang="en-US" dirty="0"/>
              <a:t>좌표</a:t>
            </a:r>
            <a:r>
              <a:rPr lang="en-US" altLang="ko-KR" dirty="0"/>
              <a:t>, </a:t>
            </a:r>
            <a:r>
              <a:rPr lang="ko-KR" altLang="en-US" dirty="0"/>
              <a:t>그리고 태그를 선언했습니다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그래프를 사용하여 미로를 나타낸 것이</a:t>
            </a:r>
            <a:r>
              <a:rPr lang="en-US" altLang="ko-KR" dirty="0"/>
              <a:t> </a:t>
            </a:r>
            <a:r>
              <a:rPr lang="ko-KR" altLang="en-US" dirty="0"/>
              <a:t>그래프의 </a:t>
            </a:r>
            <a:r>
              <a:rPr lang="ko-KR" altLang="en-US" dirty="0" err="1"/>
              <a:t>이중포인터</a:t>
            </a:r>
            <a:r>
              <a:rPr lang="en-US" altLang="ko-KR" dirty="0"/>
              <a:t>map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en-US" altLang="ko-KR" dirty="0" err="1"/>
              <a:t>roomnum</a:t>
            </a:r>
            <a:r>
              <a:rPr lang="ko-KR" altLang="en-US" dirty="0"/>
              <a:t>은 </a:t>
            </a:r>
            <a:r>
              <a:rPr lang="en-US" altLang="ko-KR" dirty="0"/>
              <a:t>map</a:t>
            </a:r>
            <a:r>
              <a:rPr lang="ko-KR" altLang="en-US" dirty="0"/>
              <a:t>의 방 개수</a:t>
            </a:r>
            <a:r>
              <a:rPr lang="en-US" altLang="ko-KR" dirty="0"/>
              <a:t>, HEIGHT, WIDTH</a:t>
            </a:r>
            <a:r>
              <a:rPr lang="ko-KR" altLang="en-US" dirty="0"/>
              <a:t>는 </a:t>
            </a:r>
            <a:r>
              <a:rPr lang="en-US" altLang="ko-KR" dirty="0"/>
              <a:t>MAP</a:t>
            </a:r>
            <a:r>
              <a:rPr lang="ko-KR" altLang="en-US" dirty="0"/>
              <a:t>의 높이</a:t>
            </a:r>
            <a:r>
              <a:rPr lang="en-US" altLang="ko-KR" dirty="0"/>
              <a:t>, </a:t>
            </a:r>
            <a:r>
              <a:rPr lang="ko-KR" altLang="en-US" dirty="0"/>
              <a:t>너비입니다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71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dfs</a:t>
            </a:r>
            <a:r>
              <a:rPr lang="ko-KR" altLang="en-US" dirty="0"/>
              <a:t>알고리즘에서 사용하는 </a:t>
            </a:r>
            <a:r>
              <a:rPr lang="en-US" altLang="ko-KR" dirty="0"/>
              <a:t>graph</a:t>
            </a:r>
            <a:r>
              <a:rPr lang="ko-KR" altLang="en-US" dirty="0"/>
              <a:t>를 값으로 가지는 스택 </a:t>
            </a:r>
            <a:r>
              <a:rPr lang="en-US" altLang="ko-KR" dirty="0"/>
              <a:t>s</a:t>
            </a:r>
            <a:r>
              <a:rPr lang="ko-KR" altLang="en-US" dirty="0"/>
              <a:t>와 </a:t>
            </a:r>
            <a:r>
              <a:rPr lang="en-US" altLang="ko-KR" dirty="0"/>
              <a:t>all</a:t>
            </a:r>
            <a:r>
              <a:rPr lang="ko-KR" altLang="en-US" dirty="0"/>
              <a:t>은 각각 최단경로와 모든 경로를 담습니다</a:t>
            </a:r>
            <a:r>
              <a:rPr lang="en-US" altLang="ko-KR" dirty="0"/>
              <a:t>. track</a:t>
            </a:r>
            <a:r>
              <a:rPr lang="ko-KR" altLang="en-US" dirty="0"/>
              <a:t>과 </a:t>
            </a:r>
            <a:r>
              <a:rPr lang="en-US" altLang="ko-KR" dirty="0" err="1"/>
              <a:t>mtrack</a:t>
            </a:r>
            <a:r>
              <a:rPr lang="ko-KR" altLang="en-US" dirty="0"/>
              <a:t>은 </a:t>
            </a:r>
            <a:r>
              <a:rPr lang="ko-KR" altLang="en-US" dirty="0" err="1"/>
              <a:t>모든경로와</a:t>
            </a:r>
            <a:r>
              <a:rPr lang="ko-KR" altLang="en-US" dirty="0"/>
              <a:t> 최단경로를 화면상에 그리기 위해 스택에서 값을 저장하는 그래프 배열입니다</a:t>
            </a:r>
            <a:r>
              <a:rPr lang="en-US" altLang="ko-KR" dirty="0"/>
              <a:t>. </a:t>
            </a:r>
            <a:r>
              <a:rPr lang="en-US" altLang="ko-KR" dirty="0" err="1"/>
              <a:t>tracknum</a:t>
            </a:r>
            <a:r>
              <a:rPr lang="ko-KR" altLang="en-US" dirty="0"/>
              <a:t>과 </a:t>
            </a:r>
            <a:r>
              <a:rPr lang="en-US" altLang="ko-KR" dirty="0" err="1"/>
              <a:t>mtracknum</a:t>
            </a:r>
            <a:r>
              <a:rPr lang="ko-KR" altLang="en-US" dirty="0"/>
              <a:t>은 각각의 경로 개수를 나타냅니다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input</a:t>
            </a:r>
            <a:r>
              <a:rPr lang="ko-KR" altLang="en-US" dirty="0"/>
              <a:t>은 파일에서 읽은 미로의 모양을 화면에 그리기 위해 파일의 문자를 그대로 저장하는 </a:t>
            </a:r>
            <a:r>
              <a:rPr lang="en-US" altLang="ko-KR" dirty="0"/>
              <a:t>2</a:t>
            </a:r>
            <a:r>
              <a:rPr lang="ko-KR" altLang="en-US" dirty="0"/>
              <a:t>차원 문자형 배열이며 </a:t>
            </a:r>
            <a:r>
              <a:rPr lang="en-US" altLang="ko-KR" dirty="0"/>
              <a:t>CHEIGHT, CWIDTH</a:t>
            </a:r>
            <a:r>
              <a:rPr lang="ko-KR" altLang="en-US" dirty="0"/>
              <a:t>는 이것의 높이와 너비입니다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019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변수들은 프로그램에서 사용하는 플래그와 탈출좌표</a:t>
            </a:r>
            <a:r>
              <a:rPr lang="en-US" altLang="ko-KR" dirty="0"/>
              <a:t>, </a:t>
            </a:r>
            <a:r>
              <a:rPr lang="ko-KR" altLang="en-US" dirty="0"/>
              <a:t>시작좌표를 의미합니다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599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appmenufunction</a:t>
            </a:r>
            <a:r>
              <a:rPr lang="ko-KR" altLang="en-US" dirty="0"/>
              <a:t>은 </a:t>
            </a:r>
            <a:r>
              <a:rPr lang="en-US" altLang="ko-KR" dirty="0"/>
              <a:t>show </a:t>
            </a:r>
            <a:r>
              <a:rPr lang="en-US" altLang="ko-KR" dirty="0" err="1"/>
              <a:t>dfs</a:t>
            </a:r>
            <a:r>
              <a:rPr lang="ko-KR" altLang="en-US" dirty="0"/>
              <a:t>를 클릭 시 실습시와 동일하게 </a:t>
            </a:r>
            <a:r>
              <a:rPr lang="en-US" altLang="ko-KR" dirty="0" err="1"/>
              <a:t>dfs</a:t>
            </a:r>
            <a:r>
              <a:rPr lang="ko-KR" altLang="en-US" dirty="0"/>
              <a:t>를 호출</a:t>
            </a:r>
            <a:r>
              <a:rPr lang="en-US" altLang="ko-KR" dirty="0"/>
              <a:t>, random exit</a:t>
            </a:r>
            <a:r>
              <a:rPr lang="ko-KR" altLang="en-US" dirty="0"/>
              <a:t>를 클릭 시 랜덤 탈출지점 </a:t>
            </a:r>
            <a:r>
              <a:rPr lang="en-US" altLang="ko-KR" dirty="0" err="1"/>
              <a:t>dfs</a:t>
            </a:r>
            <a:r>
              <a:rPr lang="en-US" altLang="ko-KR" dirty="0"/>
              <a:t>, random start</a:t>
            </a:r>
            <a:r>
              <a:rPr lang="ko-KR" altLang="en-US" dirty="0"/>
              <a:t>를 클릭 시 랜덤 시작지점 </a:t>
            </a:r>
            <a:r>
              <a:rPr lang="en-US" altLang="ko-KR" dirty="0" err="1"/>
              <a:t>dfs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all</a:t>
            </a:r>
            <a:r>
              <a:rPr lang="ko-KR" altLang="en-US" dirty="0"/>
              <a:t> </a:t>
            </a:r>
            <a:r>
              <a:rPr lang="en-US" altLang="ko-KR" dirty="0"/>
              <a:t>random</a:t>
            </a:r>
            <a:r>
              <a:rPr lang="ko-KR" altLang="en-US" dirty="0"/>
              <a:t>을 클릭 시 랜덤 시작탈출</a:t>
            </a:r>
            <a:r>
              <a:rPr lang="en-US" altLang="ko-KR" dirty="0" err="1"/>
              <a:t>dfs</a:t>
            </a:r>
            <a:r>
              <a:rPr lang="ko-KR" altLang="en-US" dirty="0"/>
              <a:t>를 호출합니다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//// </a:t>
            </a:r>
            <a:r>
              <a:rPr lang="ko-KR" altLang="en-US" dirty="0"/>
              <a:t>이때 시작</a:t>
            </a:r>
            <a:r>
              <a:rPr lang="en-US" altLang="ko-KR" dirty="0"/>
              <a:t>/</a:t>
            </a:r>
            <a:r>
              <a:rPr lang="ko-KR" altLang="en-US" dirty="0"/>
              <a:t>탈출지점이 같은 경우 달라질 때까지 랜덤함수를 호출하였고 각 버튼 클릭 시에 화면 상에 </a:t>
            </a:r>
            <a:r>
              <a:rPr lang="en-US" altLang="ko-KR" dirty="0" err="1"/>
              <a:t>dfs</a:t>
            </a:r>
            <a:r>
              <a:rPr lang="en-US" altLang="ko-KR" dirty="0"/>
              <a:t> </a:t>
            </a:r>
            <a:r>
              <a:rPr lang="ko-KR" altLang="en-US" dirty="0"/>
              <a:t>경로가 존재하면 메모리를 해제하는 실행문을 넣었습니다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31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draw </a:t>
            </a:r>
            <a:r>
              <a:rPr lang="ko-KR" altLang="en-US" dirty="0"/>
              <a:t>함수는 파일이 </a:t>
            </a:r>
            <a:r>
              <a:rPr lang="ko-KR" altLang="en-US" dirty="0" err="1"/>
              <a:t>열려있다면</a:t>
            </a:r>
            <a:r>
              <a:rPr lang="ko-KR" altLang="en-US" dirty="0"/>
              <a:t> 파일의 문자에 따라 미로의 형태를 화면상에 그립니다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altLang="ko-KR" dirty="0" err="1"/>
              <a:t>dfs</a:t>
            </a:r>
            <a:r>
              <a:rPr lang="ko-KR" altLang="en-US" dirty="0"/>
              <a:t>가 실행되었다면 </a:t>
            </a:r>
            <a:r>
              <a:rPr lang="en-US" altLang="ko-KR" dirty="0" err="1"/>
              <a:t>dfsdraw</a:t>
            </a:r>
            <a:r>
              <a:rPr lang="ko-KR" altLang="en-US" dirty="0"/>
              <a:t>를 호출합니다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51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readfile</a:t>
            </a:r>
            <a:r>
              <a:rPr lang="ko-KR" altLang="en-US" dirty="0"/>
              <a:t>은 </a:t>
            </a:r>
            <a:r>
              <a:rPr lang="en-US" altLang="ko-KR" dirty="0"/>
              <a:t>.</a:t>
            </a:r>
            <a:r>
              <a:rPr lang="en-US" altLang="ko-KR" dirty="0" err="1"/>
              <a:t>maz</a:t>
            </a:r>
            <a:r>
              <a:rPr lang="ko-KR" altLang="en-US" dirty="0"/>
              <a:t>로 끝나는 파일이 </a:t>
            </a:r>
            <a:r>
              <a:rPr lang="ko-KR" altLang="en-US" dirty="0" err="1"/>
              <a:t>열려있는</a:t>
            </a:r>
            <a:r>
              <a:rPr lang="ko-KR" altLang="en-US" dirty="0"/>
              <a:t> 상태에서 할당된 메모리가 있었다면 </a:t>
            </a:r>
            <a:r>
              <a:rPr lang="en-US" altLang="ko-KR" dirty="0" err="1"/>
              <a:t>freememory</a:t>
            </a:r>
            <a:r>
              <a:rPr lang="ko-KR" altLang="en-US" dirty="0"/>
              <a:t>를 통해 해제해줍니다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이후 파일을 </a:t>
            </a:r>
            <a:r>
              <a:rPr lang="ko-KR" altLang="en-US" dirty="0" err="1"/>
              <a:t>첫줄부터</a:t>
            </a:r>
            <a:r>
              <a:rPr lang="ko-KR" altLang="en-US" dirty="0"/>
              <a:t> 마지막줄까지 </a:t>
            </a:r>
            <a:r>
              <a:rPr lang="ko-KR" altLang="en-US" dirty="0" err="1"/>
              <a:t>한줄씩</a:t>
            </a:r>
            <a:r>
              <a:rPr lang="ko-KR" altLang="en-US" dirty="0"/>
              <a:t> 읽어 </a:t>
            </a:r>
            <a:r>
              <a:rPr lang="en-US" altLang="ko-KR" dirty="0" err="1"/>
              <a:t>cwidth</a:t>
            </a:r>
            <a:r>
              <a:rPr lang="en-US" altLang="ko-KR" dirty="0"/>
              <a:t>, </a:t>
            </a:r>
            <a:r>
              <a:rPr lang="en-US" altLang="ko-KR" dirty="0" err="1"/>
              <a:t>cheight</a:t>
            </a:r>
            <a:r>
              <a:rPr lang="ko-KR" altLang="en-US" dirty="0"/>
              <a:t>의 값을 구합니다</a:t>
            </a:r>
            <a:r>
              <a:rPr lang="en-US" altLang="ko-KR" dirty="0"/>
              <a:t>. </a:t>
            </a:r>
            <a:r>
              <a:rPr lang="ko-KR" altLang="en-US" dirty="0"/>
              <a:t>이후 </a:t>
            </a:r>
            <a:r>
              <a:rPr lang="en-US" altLang="ko-KR" dirty="0"/>
              <a:t>height, width</a:t>
            </a:r>
            <a:r>
              <a:rPr lang="ko-KR" altLang="en-US" dirty="0"/>
              <a:t>의 값을 각각 반으로 나눠 저장하고 이 크기만큼 </a:t>
            </a:r>
            <a:r>
              <a:rPr lang="en-US" altLang="ko-KR" dirty="0"/>
              <a:t>input, map</a:t>
            </a:r>
            <a:r>
              <a:rPr lang="ko-KR" altLang="en-US" dirty="0"/>
              <a:t>을 </a:t>
            </a:r>
            <a:r>
              <a:rPr lang="en-US" altLang="ko-KR" dirty="0"/>
              <a:t>malloc</a:t>
            </a:r>
            <a:r>
              <a:rPr lang="ko-KR" altLang="en-US" dirty="0"/>
              <a:t>해줍니다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이후 파일을 다시 읽어 </a:t>
            </a:r>
            <a:r>
              <a:rPr lang="en-US" altLang="ko-KR" dirty="0"/>
              <a:t>input</a:t>
            </a:r>
            <a:r>
              <a:rPr lang="ko-KR" altLang="en-US" dirty="0"/>
              <a:t>에 미로의 모양을 저장하고 </a:t>
            </a:r>
            <a:r>
              <a:rPr lang="en-US" altLang="ko-KR" dirty="0"/>
              <a:t>map</a:t>
            </a:r>
            <a:r>
              <a:rPr lang="ko-KR" altLang="en-US" dirty="0"/>
              <a:t>에 미로의 구조를 저장합니다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391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freememory</a:t>
            </a:r>
            <a:r>
              <a:rPr lang="ko-KR" altLang="en-US" dirty="0"/>
              <a:t>는 할당된 메모리들을 해제하는 함수입니다</a:t>
            </a:r>
            <a:r>
              <a:rPr lang="en-US" altLang="ko-KR" dirty="0"/>
              <a:t>. input, map, </a:t>
            </a:r>
            <a:r>
              <a:rPr lang="ko-KR" altLang="en-US" dirty="0"/>
              <a:t>그리고 </a:t>
            </a:r>
            <a:r>
              <a:rPr lang="en-US" altLang="ko-KR" dirty="0" err="1"/>
              <a:t>dfs</a:t>
            </a:r>
            <a:r>
              <a:rPr lang="ko-KR" altLang="en-US" dirty="0"/>
              <a:t>가 실행되었다면 </a:t>
            </a:r>
            <a:r>
              <a:rPr lang="en-US" altLang="ko-KR" dirty="0" err="1"/>
              <a:t>track,mtrack</a:t>
            </a:r>
            <a:r>
              <a:rPr lang="ko-KR" altLang="en-US" dirty="0"/>
              <a:t>을 </a:t>
            </a:r>
            <a:r>
              <a:rPr lang="en-US" altLang="ko-KR" dirty="0"/>
              <a:t>free</a:t>
            </a:r>
            <a:r>
              <a:rPr lang="ko-KR" altLang="en-US" dirty="0"/>
              <a:t>하고 </a:t>
            </a:r>
            <a:r>
              <a:rPr lang="en-US" altLang="ko-KR" dirty="0" err="1"/>
              <a:t>tracknum</a:t>
            </a:r>
            <a:r>
              <a:rPr lang="en-US" altLang="ko-KR" dirty="0"/>
              <a:t>, </a:t>
            </a:r>
            <a:r>
              <a:rPr lang="en-US" altLang="ko-KR" dirty="0" err="1"/>
              <a:t>mtracknum</a:t>
            </a:r>
            <a:r>
              <a:rPr lang="ko-KR" altLang="en-US" dirty="0"/>
              <a:t>을 </a:t>
            </a:r>
            <a:r>
              <a:rPr lang="en-US" altLang="ko-KR" dirty="0"/>
              <a:t>0</a:t>
            </a:r>
            <a:r>
              <a:rPr lang="ko-KR" altLang="en-US" dirty="0"/>
              <a:t>으로 초기화합니다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이후 </a:t>
            </a:r>
            <a:r>
              <a:rPr lang="en-US" altLang="ko-KR" dirty="0" err="1"/>
              <a:t>memory_flag</a:t>
            </a:r>
            <a:r>
              <a:rPr lang="ko-KR" altLang="en-US" dirty="0"/>
              <a:t>를 </a:t>
            </a:r>
            <a:r>
              <a:rPr lang="en-US" altLang="ko-KR" dirty="0"/>
              <a:t>0</a:t>
            </a:r>
            <a:r>
              <a:rPr lang="ko-KR" altLang="en-US" dirty="0"/>
              <a:t>으로 초기화합니다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148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DFS</a:t>
            </a:r>
            <a:r>
              <a:rPr lang="ko-KR" altLang="en-US" dirty="0"/>
              <a:t>에서는 가장 먼저 방문한 방을 확인하는 </a:t>
            </a:r>
            <a:r>
              <a:rPr lang="en-US" altLang="ko-KR" dirty="0"/>
              <a:t>MARK</a:t>
            </a:r>
            <a:r>
              <a:rPr lang="ko-KR" altLang="en-US" dirty="0"/>
              <a:t>를 선언합니다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시작지점의 좌표를 그래프로 저장하여 </a:t>
            </a:r>
            <a:r>
              <a:rPr lang="en-US" altLang="ko-KR" dirty="0"/>
              <a:t>S</a:t>
            </a:r>
            <a:r>
              <a:rPr lang="ko-KR" altLang="en-US" dirty="0"/>
              <a:t>와 </a:t>
            </a:r>
            <a:r>
              <a:rPr lang="en-US" altLang="ko-KR" dirty="0"/>
              <a:t>ALL</a:t>
            </a:r>
            <a:r>
              <a:rPr lang="ko-KR" altLang="en-US" dirty="0"/>
              <a:t>에 </a:t>
            </a:r>
            <a:r>
              <a:rPr lang="en-US" altLang="ko-KR" dirty="0"/>
              <a:t>PUSH</a:t>
            </a:r>
            <a:r>
              <a:rPr lang="ko-KR" altLang="en-US" dirty="0"/>
              <a:t>해주고 해당 방은 이동한 것으로 마크합니다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</a:t>
            </a:r>
            <a:r>
              <a:rPr lang="en-US" altLang="ko-KR" dirty="0"/>
              <a:t>S</a:t>
            </a:r>
            <a:r>
              <a:rPr lang="ko-KR" altLang="en-US" dirty="0"/>
              <a:t>가 </a:t>
            </a:r>
            <a:r>
              <a:rPr lang="ko-KR" altLang="en-US" dirty="0" err="1"/>
              <a:t>비어있지</a:t>
            </a:r>
            <a:r>
              <a:rPr lang="ko-KR" altLang="en-US" dirty="0"/>
              <a:t> 않은 동안 실행되는 </a:t>
            </a:r>
            <a:r>
              <a:rPr lang="en-US" altLang="ko-KR" dirty="0"/>
              <a:t>WHILE</a:t>
            </a:r>
            <a:r>
              <a:rPr lang="ko-KR" altLang="en-US" dirty="0"/>
              <a:t>문에서는</a:t>
            </a:r>
            <a:endParaRPr lang="en-US" altLang="ko-KR" dirty="0"/>
          </a:p>
          <a:p>
            <a:r>
              <a:rPr lang="en-US" altLang="ko-KR" dirty="0"/>
              <a:t>S</a:t>
            </a:r>
            <a:r>
              <a:rPr lang="ko-KR" altLang="en-US" dirty="0"/>
              <a:t>의 </a:t>
            </a:r>
            <a:r>
              <a:rPr lang="en-US" altLang="ko-KR" dirty="0"/>
              <a:t>TOP</a:t>
            </a:r>
            <a:r>
              <a:rPr lang="ko-KR" altLang="en-US" dirty="0"/>
              <a:t>좌표를 확인하여 탈출좌표라면 </a:t>
            </a:r>
            <a:r>
              <a:rPr lang="en-US" altLang="ko-KR" dirty="0"/>
              <a:t>BREAK</a:t>
            </a:r>
          </a:p>
          <a:p>
            <a:r>
              <a:rPr lang="ko-KR" altLang="en-US" dirty="0"/>
              <a:t>오른쪽이 </a:t>
            </a:r>
            <a:r>
              <a:rPr lang="ko-KR" altLang="en-US" dirty="0" err="1"/>
              <a:t>열려있고</a:t>
            </a:r>
            <a:r>
              <a:rPr lang="ko-KR" altLang="en-US" dirty="0"/>
              <a:t> 갈 수 있다면 오른쪽방의 좌표를 </a:t>
            </a:r>
            <a:r>
              <a:rPr lang="en-US" altLang="ko-KR" dirty="0"/>
              <a:t>S,ALL</a:t>
            </a:r>
            <a:r>
              <a:rPr lang="ko-KR" altLang="en-US" dirty="0"/>
              <a:t>에 </a:t>
            </a:r>
            <a:r>
              <a:rPr lang="en-US" altLang="ko-KR" dirty="0"/>
              <a:t>PUSH, </a:t>
            </a:r>
            <a:r>
              <a:rPr lang="ko-KR" altLang="en-US" dirty="0"/>
              <a:t>오른쪽으로 좌표이동 후 </a:t>
            </a:r>
            <a:r>
              <a:rPr lang="en-US" altLang="ko-KR" dirty="0"/>
              <a:t>CONTINUE</a:t>
            </a:r>
          </a:p>
          <a:p>
            <a:r>
              <a:rPr lang="ko-KR" altLang="en-US" dirty="0"/>
              <a:t>이와 같은 동작을 아래쪽</a:t>
            </a:r>
            <a:r>
              <a:rPr lang="en-US" altLang="ko-KR" dirty="0"/>
              <a:t>, </a:t>
            </a:r>
            <a:r>
              <a:rPr lang="ko-KR" altLang="en-US" dirty="0"/>
              <a:t>왼쪽</a:t>
            </a:r>
            <a:r>
              <a:rPr lang="en-US" altLang="ko-KR" dirty="0"/>
              <a:t>,</a:t>
            </a:r>
            <a:r>
              <a:rPr lang="ko-KR" altLang="en-US" dirty="0"/>
              <a:t>위쪽의 우선순위로 실행합니다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주변에 이동할 수 있는 방이 없다면 </a:t>
            </a:r>
            <a:r>
              <a:rPr lang="en-US" altLang="ko-KR" dirty="0"/>
              <a:t>S</a:t>
            </a:r>
            <a:r>
              <a:rPr lang="ko-KR" altLang="en-US" dirty="0"/>
              <a:t>에서 </a:t>
            </a:r>
            <a:r>
              <a:rPr lang="en-US" altLang="ko-KR" dirty="0"/>
              <a:t>TOP</a:t>
            </a:r>
            <a:r>
              <a:rPr lang="ko-KR" altLang="en-US" dirty="0"/>
              <a:t>값의 </a:t>
            </a:r>
            <a:r>
              <a:rPr lang="en-US" altLang="ko-KR" dirty="0"/>
              <a:t>TAG</a:t>
            </a:r>
            <a:r>
              <a:rPr lang="ko-KR" altLang="en-US" dirty="0"/>
              <a:t>를 확인하여 </a:t>
            </a:r>
            <a:r>
              <a:rPr lang="en-US" altLang="ko-KR" dirty="0"/>
              <a:t>RIGHT</a:t>
            </a:r>
            <a:r>
              <a:rPr lang="ko-KR" altLang="en-US" dirty="0"/>
              <a:t>면 왼쪽으로 </a:t>
            </a:r>
            <a:r>
              <a:rPr lang="en-US" altLang="ko-KR" dirty="0"/>
              <a:t>DOWN</a:t>
            </a:r>
            <a:r>
              <a:rPr lang="ko-KR" altLang="en-US" dirty="0"/>
              <a:t>이면 위쪽으로 </a:t>
            </a:r>
            <a:r>
              <a:rPr lang="en-US" altLang="ko-KR" dirty="0"/>
              <a:t>UP</a:t>
            </a:r>
            <a:r>
              <a:rPr lang="ko-KR" altLang="en-US" dirty="0"/>
              <a:t>이면 아래쪽으로 </a:t>
            </a:r>
            <a:r>
              <a:rPr lang="en-US" altLang="ko-KR" dirty="0"/>
              <a:t>LEFT</a:t>
            </a:r>
            <a:r>
              <a:rPr lang="ko-KR" altLang="en-US" dirty="0"/>
              <a:t>면 오른쪽으로 이동시키고 </a:t>
            </a:r>
            <a:r>
              <a:rPr lang="en-US" altLang="ko-KR" dirty="0"/>
              <a:t>S.POP</a:t>
            </a:r>
            <a:r>
              <a:rPr lang="ko-KR" altLang="en-US" dirty="0"/>
              <a:t>을 실행합니다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경로를 찾으면 </a:t>
            </a:r>
            <a:r>
              <a:rPr lang="en-US" altLang="ko-KR" dirty="0"/>
              <a:t>TRACK</a:t>
            </a:r>
            <a:r>
              <a:rPr lang="ko-KR" altLang="en-US" dirty="0"/>
              <a:t>에 </a:t>
            </a:r>
            <a:r>
              <a:rPr lang="en-US" altLang="ko-KR" dirty="0"/>
              <a:t>ALL</a:t>
            </a:r>
            <a:r>
              <a:rPr lang="ko-KR" altLang="en-US" dirty="0"/>
              <a:t>의 모든 값을 저장하고 </a:t>
            </a:r>
            <a:r>
              <a:rPr lang="en-US" altLang="ko-KR" dirty="0"/>
              <a:t>MTRACK</a:t>
            </a:r>
            <a:r>
              <a:rPr lang="ko-KR" altLang="en-US" dirty="0"/>
              <a:t>에 </a:t>
            </a:r>
            <a:r>
              <a:rPr lang="en-US" altLang="ko-KR" dirty="0"/>
              <a:t>S</a:t>
            </a:r>
            <a:r>
              <a:rPr lang="ko-KR" altLang="en-US" dirty="0"/>
              <a:t>의 모든 값을 저장합니다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702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DFSDRAW</a:t>
            </a:r>
            <a:r>
              <a:rPr lang="ko-KR" altLang="en-US" dirty="0"/>
              <a:t>는 </a:t>
            </a:r>
            <a:r>
              <a:rPr lang="en-US" altLang="ko-KR" dirty="0"/>
              <a:t>DFS</a:t>
            </a:r>
            <a:r>
              <a:rPr lang="ko-KR" altLang="en-US" dirty="0"/>
              <a:t>의 경로를 그리는 것으로 경로탐색 중 이동한 모든 경로를 초록색으로</a:t>
            </a:r>
            <a:r>
              <a:rPr lang="en-US" altLang="ko-KR" dirty="0"/>
              <a:t>, </a:t>
            </a:r>
            <a:r>
              <a:rPr lang="ko-KR" altLang="en-US" dirty="0"/>
              <a:t>최단경로를 주황색으로</a:t>
            </a:r>
            <a:r>
              <a:rPr lang="en-US" altLang="ko-KR" dirty="0"/>
              <a:t>, </a:t>
            </a:r>
            <a:r>
              <a:rPr lang="ko-KR" altLang="en-US" dirty="0"/>
              <a:t>시작지점을 붉은색 정사각형으로</a:t>
            </a:r>
            <a:r>
              <a:rPr lang="en-US" altLang="ko-KR" dirty="0"/>
              <a:t>, </a:t>
            </a:r>
            <a:r>
              <a:rPr lang="ko-KR" altLang="en-US" dirty="0"/>
              <a:t>탈출지점을 파란색 정사각형으로 그립니다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1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EXITMANI</a:t>
            </a:r>
            <a:r>
              <a:rPr lang="ko-KR" altLang="en-US" dirty="0"/>
              <a:t>와 </a:t>
            </a:r>
            <a:r>
              <a:rPr lang="en-US" altLang="ko-KR" dirty="0" err="1"/>
              <a:t>startmani</a:t>
            </a:r>
            <a:r>
              <a:rPr lang="ko-KR" altLang="en-US" dirty="0"/>
              <a:t>는 </a:t>
            </a:r>
            <a:r>
              <a:rPr lang="en-US" altLang="ko-KR" dirty="0"/>
              <a:t>MT19937 </a:t>
            </a:r>
            <a:r>
              <a:rPr lang="ko-KR" altLang="en-US" dirty="0" err="1"/>
              <a:t>엠티일구구삼칠</a:t>
            </a:r>
            <a:r>
              <a:rPr lang="ko-KR" altLang="en-US" dirty="0"/>
              <a:t> 엔진을 사용하여 </a:t>
            </a:r>
            <a:r>
              <a:rPr lang="ko-KR" altLang="en-US" dirty="0" err="1"/>
              <a:t>랜덤값을</a:t>
            </a:r>
            <a:r>
              <a:rPr lang="ko-KR" altLang="en-US" dirty="0"/>
              <a:t> 범위 내에서 생성하여 각각 탈출좌표</a:t>
            </a:r>
            <a:r>
              <a:rPr lang="en-US" altLang="ko-KR" dirty="0"/>
              <a:t>, </a:t>
            </a:r>
            <a:r>
              <a:rPr lang="ko-KR" altLang="en-US" dirty="0"/>
              <a:t>시작좌표에 저장합니다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261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ko-KR" altLang="en-US" dirty="0" err="1"/>
              <a:t>시연영상입니다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047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프로그램 빌드 후 </a:t>
            </a:r>
            <a:r>
              <a:rPr lang="en-US" altLang="ko-KR" dirty="0"/>
              <a:t>5x5</a:t>
            </a:r>
            <a:r>
              <a:rPr lang="ko-KR" altLang="en-US" dirty="0"/>
              <a:t>미로를 불러오고 </a:t>
            </a:r>
            <a:r>
              <a:rPr lang="en-US" altLang="ko-KR" dirty="0" err="1"/>
              <a:t>dfs</a:t>
            </a:r>
            <a:r>
              <a:rPr lang="en-US" altLang="ko-KR" dirty="0"/>
              <a:t>, </a:t>
            </a:r>
            <a:r>
              <a:rPr lang="ko-KR" altLang="en-US" dirty="0"/>
              <a:t>랜덤 시작</a:t>
            </a:r>
            <a:r>
              <a:rPr lang="en-US" altLang="ko-KR" dirty="0"/>
              <a:t>, </a:t>
            </a:r>
            <a:r>
              <a:rPr lang="ko-KR" altLang="en-US" dirty="0"/>
              <a:t>랜덤 시작</a:t>
            </a:r>
            <a:r>
              <a:rPr lang="en-US" altLang="ko-KR" dirty="0"/>
              <a:t>, </a:t>
            </a:r>
            <a:r>
              <a:rPr lang="ko-KR" altLang="en-US" dirty="0"/>
              <a:t>랜덤 탈출</a:t>
            </a:r>
            <a:r>
              <a:rPr lang="en-US" altLang="ko-KR" dirty="0"/>
              <a:t>, </a:t>
            </a:r>
            <a:r>
              <a:rPr lang="ko-KR" altLang="en-US" dirty="0"/>
              <a:t>랜덤 탈출</a:t>
            </a:r>
            <a:r>
              <a:rPr lang="en-US" altLang="ko-KR" dirty="0"/>
              <a:t>, </a:t>
            </a:r>
            <a:r>
              <a:rPr lang="ko-KR" altLang="en-US" dirty="0" err="1"/>
              <a:t>올랜덤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올랜덤</a:t>
            </a:r>
            <a:endParaRPr lang="en-US" altLang="ko-KR" dirty="0"/>
          </a:p>
          <a:p>
            <a:r>
              <a:rPr lang="ko-KR" altLang="en-US" dirty="0"/>
              <a:t>다른 미로를 불러왔을 때의 시연은 영상을 통해 확인해주시기 바랍니다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185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느낀 점 및 </a:t>
            </a:r>
            <a:r>
              <a:rPr lang="ko-KR" altLang="en-US" dirty="0" err="1"/>
              <a:t>개선사항입니다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좌측의 경로탐색결과를 보시면 시작지점에서 탈출지점까지 멀지 않음에도 불구하고 굉장히 멀리 돌아서 간 것을 알 수 있습니다</a:t>
            </a:r>
            <a:r>
              <a:rPr lang="en-US" altLang="ko-KR" dirty="0"/>
              <a:t>. </a:t>
            </a:r>
            <a:r>
              <a:rPr lang="ko-KR" altLang="en-US" dirty="0"/>
              <a:t>이러한 결과가 나타난 이유는 </a:t>
            </a:r>
            <a:r>
              <a:rPr lang="en-US" altLang="ko-KR" dirty="0" err="1"/>
              <a:t>dfs</a:t>
            </a:r>
            <a:r>
              <a:rPr lang="en-US" altLang="ko-KR" dirty="0"/>
              <a:t> </a:t>
            </a:r>
            <a:r>
              <a:rPr lang="ko-KR" altLang="en-US" dirty="0"/>
              <a:t>알고리즘에서 오른쪽</a:t>
            </a:r>
            <a:r>
              <a:rPr lang="en-US" altLang="ko-KR" dirty="0"/>
              <a:t>-&gt;</a:t>
            </a:r>
            <a:r>
              <a:rPr lang="ko-KR" altLang="en-US" dirty="0"/>
              <a:t>아래쪽</a:t>
            </a:r>
            <a:r>
              <a:rPr lang="en-US" altLang="ko-KR" dirty="0"/>
              <a:t>-&gt;</a:t>
            </a:r>
            <a:r>
              <a:rPr lang="ko-KR" altLang="en-US" dirty="0"/>
              <a:t>왼쪽</a:t>
            </a:r>
            <a:r>
              <a:rPr lang="en-US" altLang="ko-KR" dirty="0"/>
              <a:t>-&gt;</a:t>
            </a:r>
            <a:r>
              <a:rPr lang="ko-KR" altLang="en-US" dirty="0"/>
              <a:t>위쪽 순으로 이동가능한 경우를 찾아서 이동했기 때문입니다</a:t>
            </a:r>
            <a:r>
              <a:rPr lang="en-US" altLang="ko-KR" dirty="0"/>
              <a:t>. </a:t>
            </a:r>
            <a:r>
              <a:rPr lang="ko-KR" altLang="en-US" dirty="0"/>
              <a:t>프로젝트가 시작탈출지점을 조작하는 것이라 이 두 좌표를 비교하여 우선순위를 설정하면 되지 </a:t>
            </a:r>
            <a:r>
              <a:rPr lang="ko-KR" altLang="en-US" dirty="0" err="1"/>
              <a:t>않겠느냐하실</a:t>
            </a:r>
            <a:r>
              <a:rPr lang="ko-KR" altLang="en-US" dirty="0"/>
              <a:t> 수 있겠지만 미로의 특성 상 미로의 탈출경로는 항상 그렇게 되지 않기 때문에 이를 해결할 수 있는 </a:t>
            </a:r>
            <a:r>
              <a:rPr lang="en-US" altLang="ko-KR" dirty="0"/>
              <a:t>modified </a:t>
            </a:r>
            <a:r>
              <a:rPr lang="en-US" altLang="ko-KR" dirty="0" err="1"/>
              <a:t>dfs</a:t>
            </a:r>
            <a:r>
              <a:rPr lang="ko-KR" altLang="en-US" dirty="0"/>
              <a:t>의 구현이 </a:t>
            </a:r>
            <a:r>
              <a:rPr lang="ko-KR" altLang="en-US" dirty="0" err="1"/>
              <a:t>필요해보였습니다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또한 </a:t>
            </a:r>
            <a:r>
              <a:rPr lang="en-US" altLang="ko-KR" dirty="0" err="1"/>
              <a:t>dfs</a:t>
            </a:r>
            <a:r>
              <a:rPr lang="ko-KR" altLang="en-US" dirty="0"/>
              <a:t> 알고리즘을 설계하면서 </a:t>
            </a:r>
            <a:r>
              <a:rPr lang="en-US" altLang="ko-KR" dirty="0" err="1"/>
              <a:t>dfs</a:t>
            </a:r>
            <a:r>
              <a:rPr lang="en-US" altLang="ko-KR" dirty="0"/>
              <a:t> </a:t>
            </a:r>
            <a:r>
              <a:rPr lang="ko-KR" altLang="en-US" dirty="0"/>
              <a:t>알고리즘에 대해 더 </a:t>
            </a:r>
            <a:r>
              <a:rPr lang="ko-KR" altLang="en-US" dirty="0" err="1"/>
              <a:t>잘이해하게</a:t>
            </a:r>
            <a:r>
              <a:rPr lang="ko-KR" altLang="en-US" dirty="0"/>
              <a:t> 되었고 어떤 경우에 </a:t>
            </a:r>
            <a:r>
              <a:rPr lang="en-US" altLang="ko-KR" dirty="0" err="1"/>
              <a:t>dfs</a:t>
            </a:r>
            <a:r>
              <a:rPr lang="ko-KR" altLang="en-US" dirty="0"/>
              <a:t>가 효율적이고 비효율적인지 알 수 있어 좋았습니다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73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70DA82-9B53-41F8-BFBC-F16DDAD2976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67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18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3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0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3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2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1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3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7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1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6/25/2024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lIns="109728" tIns="109728" rIns="109728" bIns="91440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6/25/2024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34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sz="4400" kern="1200" spc="5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 spc="3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 spc="3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 spc="3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 spc="3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4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 spc="3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kv"/><Relationship Id="rId1" Type="http://schemas.microsoft.com/office/2007/relationships/media" Target="../media/media1.mkv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5AB8183-1986-1130-A496-B543D4C4B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170167"/>
            <a:ext cx="10495904" cy="1395872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소개실</a:t>
            </a:r>
            <a:r>
              <a:rPr lang="ko-KR" altLang="en-US" dirty="0"/>
              <a:t> 최종프로젝트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27C005-11D6-CA3B-19F1-18D6FEC3B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1800355"/>
            <a:ext cx="5398649" cy="1643320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과목명</a:t>
            </a:r>
            <a:r>
              <a:rPr lang="en-US" altLang="ko-KR" dirty="0"/>
              <a:t> : </a:t>
            </a:r>
            <a:r>
              <a:rPr lang="ko-KR" altLang="en-US" dirty="0" err="1"/>
              <a:t>소프트웨어개발도구및환경실습</a:t>
            </a:r>
            <a:endParaRPr lang="en-US" altLang="ko-KR" dirty="0"/>
          </a:p>
          <a:p>
            <a:r>
              <a:rPr lang="ko-KR" altLang="en-US" dirty="0"/>
              <a:t>학번</a:t>
            </a:r>
            <a:r>
              <a:rPr lang="en-US" altLang="ko-KR" dirty="0"/>
              <a:t> :</a:t>
            </a:r>
            <a:r>
              <a:rPr lang="ko-KR" altLang="en-US" dirty="0"/>
              <a:t> </a:t>
            </a:r>
            <a:r>
              <a:rPr lang="en-US" altLang="ko-KR" dirty="0"/>
              <a:t>20211562</a:t>
            </a:r>
          </a:p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이동협</a:t>
            </a:r>
            <a:endParaRPr lang="en-US" altLang="ko-KR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 descr="추상적인 유전 컨셉">
            <a:extLst>
              <a:ext uri="{FF2B5EF4-FFF2-40B4-BE49-F238E27FC236}">
                <a16:creationId xmlns:a16="http://schemas.microsoft.com/office/drawing/2014/main" id="{7467E590-4072-4CD4-6284-7BC9B6E767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984" r="2" b="31509"/>
          <a:stretch/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9037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82805-F21C-D3CF-58E3-D74AB33A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2AFDF5-C268-FB19-A017-CA3C5541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프로젝트 목표 및 실험 환경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프로그램의 변수 및 함수 설명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프로그램 시연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느낀 점 및 개선 사항</a:t>
            </a:r>
          </a:p>
        </p:txBody>
      </p:sp>
    </p:spTree>
    <p:extLst>
      <p:ext uri="{BB962C8B-B14F-4D97-AF65-F5344CB8AC3E}">
        <p14:creationId xmlns:p14="http://schemas.microsoft.com/office/powerpoint/2010/main" val="2899298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5956E-BD47-F363-56F2-950B6768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목표 및 실험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83E041-6B06-826D-3535-B0D403ED5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랜덤 시작지점과 탈출지점을 통해 </a:t>
            </a:r>
            <a:r>
              <a:rPr lang="en-US" altLang="ko-KR" dirty="0"/>
              <a:t>DFS</a:t>
            </a:r>
            <a:r>
              <a:rPr lang="ko-KR" altLang="en-US" dirty="0"/>
              <a:t>의 최단경로를 확인해보고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각 시작</a:t>
            </a:r>
            <a:r>
              <a:rPr lang="en-US" altLang="ko-KR" dirty="0"/>
              <a:t>, </a:t>
            </a:r>
            <a:r>
              <a:rPr lang="ko-KR" altLang="en-US" dirty="0"/>
              <a:t>탈출지점에 따라 </a:t>
            </a:r>
            <a:r>
              <a:rPr lang="en-US" altLang="ko-KR" dirty="0"/>
              <a:t>DFS</a:t>
            </a:r>
            <a:r>
              <a:rPr lang="ko-KR" altLang="en-US" dirty="0"/>
              <a:t>가 효율적인지</a:t>
            </a:r>
            <a:r>
              <a:rPr lang="en-US" altLang="ko-KR" dirty="0"/>
              <a:t>, </a:t>
            </a:r>
            <a:r>
              <a:rPr lang="ko-KR" altLang="en-US" dirty="0"/>
              <a:t>비효율적인지 판단</a:t>
            </a:r>
          </a:p>
        </p:txBody>
      </p:sp>
    </p:spTree>
    <p:extLst>
      <p:ext uri="{BB962C8B-B14F-4D97-AF65-F5344CB8AC3E}">
        <p14:creationId xmlns:p14="http://schemas.microsoft.com/office/powerpoint/2010/main" val="80057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5956E-BD47-F363-56F2-950B6768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목표 및 실험 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83E041-6B06-826D-3535-B0D403ED5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Microsoft Visual Studio 2022</a:t>
            </a:r>
          </a:p>
          <a:p>
            <a:r>
              <a:rPr lang="en-US" altLang="ko-KR" dirty="0" err="1"/>
              <a:t>OpenFrameworks</a:t>
            </a:r>
            <a:r>
              <a:rPr lang="en-US" altLang="ko-KR" dirty="0"/>
              <a:t> v0.12.0_vs_release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655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38774-E397-2471-E171-0D4AE234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85E77-4880-D774-8240-13ECDE592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052937" cy="3564436"/>
          </a:xfrm>
        </p:spPr>
        <p:txBody>
          <a:bodyPr/>
          <a:lstStyle/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typedef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struct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{	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	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id;</a:t>
            </a:r>
          </a:p>
          <a:p>
            <a:pPr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	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right;		</a:t>
            </a:r>
          </a:p>
          <a:p>
            <a:pPr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	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down;		</a:t>
            </a:r>
          </a:p>
          <a:p>
            <a:pPr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	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xpos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		</a:t>
            </a:r>
          </a:p>
          <a:p>
            <a:pPr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	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ypos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	</a:t>
            </a:r>
          </a:p>
          <a:p>
            <a:pPr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	char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tag[6];	</a:t>
            </a:r>
          </a:p>
          <a:p>
            <a:pPr marL="0" indent="0"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}</a:t>
            </a: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** map;</a:t>
            </a:r>
            <a:r>
              <a:rPr lang="en-US" altLang="ko-KR" sz="1800" kern="100" dirty="0">
                <a:effectLst/>
                <a:latin typeface="함초롬돋움" panose="020B0604000101010101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A397474-CB32-F37E-DEDA-BA1B07C1CC4A}"/>
              </a:ext>
            </a:extLst>
          </p:cNvPr>
          <p:cNvSpPr txBox="1">
            <a:spLocks/>
          </p:cNvSpPr>
          <p:nvPr/>
        </p:nvSpPr>
        <p:spPr>
          <a:xfrm>
            <a:off x="5015617" y="2340131"/>
            <a:ext cx="4052937" cy="3564436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roomnum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= 0; </a:t>
            </a:r>
          </a:p>
          <a:p>
            <a:pPr algn="l" latinLnBrk="0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HEIGHT;</a:t>
            </a:r>
            <a:r>
              <a:rPr lang="en-US" altLang="ko-KR" sz="1800" kern="100" dirty="0">
                <a:effectLst/>
                <a:latin typeface="함초롬돋움" panose="020B0604000101010101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120650" indent="-120650" algn="just" latinLnBrk="1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WIDTH;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0628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38774-E397-2471-E171-0D4AE234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85E77-4880-D774-8240-13ECDE592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052937" cy="3564436"/>
          </a:xfrm>
        </p:spPr>
        <p:txBody>
          <a:bodyPr/>
          <a:lstStyle/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stack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&lt;</a:t>
            </a: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&gt; s;</a:t>
            </a: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stack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&lt;</a:t>
            </a: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&gt; all;</a:t>
            </a:r>
            <a:r>
              <a:rPr lang="en-US" altLang="ko-KR" sz="1800" dirty="0">
                <a:effectLst/>
                <a:latin typeface="함초롬돋움" panose="020B0604000101010101" pitchFamily="50" charset="-127"/>
              </a:rPr>
              <a:t> </a:t>
            </a:r>
            <a:endParaRPr lang="en-US" altLang="ko-KR" sz="1800" kern="0" dirty="0">
              <a:solidFill>
                <a:srgbClr val="000000"/>
              </a:solidFill>
              <a:latin typeface="Verdana" panose="020B0604030504040204" pitchFamily="34" charset="0"/>
              <a:ea typeface="돋움체" panose="020B0609000101010101" pitchFamily="49" charset="-127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* track;</a:t>
            </a:r>
            <a:r>
              <a:rPr lang="en-US" altLang="ko-KR" sz="1800" dirty="0">
                <a:effectLst/>
                <a:latin typeface="함초롬돋움" panose="020B0604000101010101" pitchFamily="50" charset="-127"/>
              </a:rPr>
              <a:t> </a:t>
            </a:r>
            <a:endParaRPr lang="en-US" altLang="ko-KR" sz="1800" kern="0" dirty="0">
              <a:solidFill>
                <a:srgbClr val="000000"/>
              </a:solidFill>
              <a:effectLst/>
              <a:latin typeface="Verdana" panose="020B0604030504040204" pitchFamily="34" charset="0"/>
              <a:ea typeface="돋움체" panose="020B0609000101010101" pitchFamily="49" charset="-127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tracknum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= 0; </a:t>
            </a:r>
            <a:endParaRPr lang="en-US" altLang="ko-KR" sz="1800" kern="0" dirty="0">
              <a:solidFill>
                <a:srgbClr val="000000"/>
              </a:solidFill>
              <a:latin typeface="Verdana" panose="020B0604030504040204" pitchFamily="34" charset="0"/>
              <a:ea typeface="돋움체" panose="020B0609000101010101" pitchFamily="49" charset="-127"/>
              <a:cs typeface="돋움체" panose="020B0609000101010101" pitchFamily="49" charset="-127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2B91A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graph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*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mtrack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 </a:t>
            </a: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mtracknum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= 0; 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D31F6C9-E922-2EF0-1033-61DE8961E04E}"/>
              </a:ext>
            </a:extLst>
          </p:cNvPr>
          <p:cNvSpPr txBox="1">
            <a:spLocks/>
          </p:cNvSpPr>
          <p:nvPr/>
        </p:nvSpPr>
        <p:spPr>
          <a:xfrm>
            <a:off x="5042781" y="2340131"/>
            <a:ext cx="4052937" cy="3564436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latinLnBrk="0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char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** input;</a:t>
            </a:r>
            <a:r>
              <a:rPr lang="en-US" altLang="ko-KR" sz="1800" dirty="0">
                <a:effectLst/>
                <a:latin typeface="함초롬돋움" panose="020B0604000101010101" pitchFamily="50" charset="-127"/>
              </a:rPr>
              <a:t> </a:t>
            </a:r>
          </a:p>
          <a:p>
            <a:pPr algn="l" latinLnBrk="0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cHEIGHT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 </a:t>
            </a:r>
          </a:p>
          <a:p>
            <a:pPr algn="l" latinLnBrk="0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cWIDTH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</a:t>
            </a:r>
            <a:endParaRPr lang="en-US" altLang="ko-KR" sz="1800" dirty="0">
              <a:effectLst/>
              <a:latin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9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38774-E397-2471-E171-0D4AE234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385E77-4880-D774-8240-13ECDE592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4052937" cy="3564436"/>
          </a:xfrm>
        </p:spPr>
        <p:txBody>
          <a:bodyPr/>
          <a:lstStyle/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memory_flag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= 0;</a:t>
            </a: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isOpen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 </a:t>
            </a:r>
            <a:endParaRPr lang="en-US" altLang="ko-KR" sz="1800" kern="0" dirty="0">
              <a:solidFill>
                <a:srgbClr val="000000"/>
              </a:solidFill>
              <a:latin typeface="Verdana" panose="020B0604030504040204" pitchFamily="34" charset="0"/>
              <a:ea typeface="돋움체" panose="020B0609000101010101" pitchFamily="49" charset="-127"/>
              <a:cs typeface="돋움체" panose="020B0609000101010101" pitchFamily="49" charset="-127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</a:t>
            </a:r>
            <a:r>
              <a:rPr lang="en-US" altLang="ko-KR" sz="1800" kern="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isDFS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; </a:t>
            </a: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EXIT_ROW; </a:t>
            </a:r>
            <a:endParaRPr lang="en-US" altLang="ko-KR" sz="1800" kern="0" dirty="0">
              <a:solidFill>
                <a:srgbClr val="000000"/>
              </a:solidFill>
              <a:latin typeface="Verdana" panose="020B0604030504040204" pitchFamily="34" charset="0"/>
              <a:ea typeface="돋움체" panose="020B0609000101010101" pitchFamily="49" charset="-127"/>
              <a:cs typeface="돋움체" panose="020B0609000101010101" pitchFamily="49" charset="-127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EXIT_COL; </a:t>
            </a: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START_ROW;</a:t>
            </a:r>
            <a:r>
              <a:rPr lang="en-US" altLang="ko-KR" sz="1800" dirty="0">
                <a:effectLst/>
                <a:latin typeface="함초롬돋움" panose="020B0604000101010101" pitchFamily="50" charset="-127"/>
              </a:rPr>
              <a:t> </a:t>
            </a:r>
            <a:endParaRPr lang="en-US" altLang="ko-KR" sz="1800" kern="0" dirty="0">
              <a:solidFill>
                <a:srgbClr val="000000"/>
              </a:solidFill>
              <a:latin typeface="Verdana" panose="020B0604030504040204" pitchFamily="34" charset="0"/>
              <a:ea typeface="돋움체" panose="020B0609000101010101" pitchFamily="49" charset="-127"/>
            </a:endParaRPr>
          </a:p>
          <a:p>
            <a:pPr algn="l" latinLnBrk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800" kern="0" dirty="0">
                <a:solidFill>
                  <a:srgbClr val="0000FF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int</a:t>
            </a:r>
            <a:r>
              <a:rPr lang="en-US" altLang="ko-KR" sz="1800" kern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돋움체" panose="020B0609000101010101" pitchFamily="49" charset="-127"/>
                <a:cs typeface="돋움체" panose="020B0609000101010101" pitchFamily="49" charset="-127"/>
              </a:rPr>
              <a:t> START_COL;</a:t>
            </a:r>
            <a:r>
              <a:rPr lang="en-US" altLang="ko-KR" sz="1800" dirty="0">
                <a:effectLst/>
                <a:latin typeface="함초롬돋움" panose="020B0604000101010101" pitchFamily="50" charset="-127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87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폰트이(가) 표시된 사진&#10;&#10;자동 생성된 설명">
            <a:extLst>
              <a:ext uri="{FF2B5EF4-FFF2-40B4-BE49-F238E27FC236}">
                <a16:creationId xmlns:a16="http://schemas.microsoft.com/office/drawing/2014/main" id="{B79F964D-7127-FD51-FFAE-AF3E54A7E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87"/>
            <a:ext cx="12192000" cy="680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4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01C2D8D0-62C7-A423-2B3B-CE1FDA061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6799"/>
            <a:ext cx="12192000" cy="488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86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&#10;&#10;자동 생성된 설명">
            <a:extLst>
              <a:ext uri="{FF2B5EF4-FFF2-40B4-BE49-F238E27FC236}">
                <a16:creationId xmlns:a16="http://schemas.microsoft.com/office/drawing/2014/main" id="{5C64EFFA-E81E-4AED-6969-BD60A165D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8" y="0"/>
            <a:ext cx="120697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5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BFED9226-15BA-4606-BBF6-A50F5C608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418" y="1090286"/>
            <a:ext cx="4039164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1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3AB46EF9-AE1B-A2A6-4D75-99787DA33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26" y="0"/>
            <a:ext cx="117375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83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D43619E4-5D0B-497D-DFE7-942E95CA4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88" y="242443"/>
            <a:ext cx="9669224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97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C16E4C5C-7626-D01A-C292-EA2083D8E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811" y="1928603"/>
            <a:ext cx="6830378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44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55C97-1F82-CA12-F202-95C5B8BCE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프로그램 시연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AE843-D554-2814-4757-9CB1AD961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42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D9D1F-3263-7EAF-4D26-9EA4A7010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비디오 4">
            <a:hlinkClick r:id="" action="ppaction://media"/>
            <a:extLst>
              <a:ext uri="{FF2B5EF4-FFF2-40B4-BE49-F238E27FC236}">
                <a16:creationId xmlns:a16="http://schemas.microsoft.com/office/drawing/2014/main" id="{25471B4D-D151-A8E8-808B-DECFB863E87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4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9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11165-9FCD-1B6A-3CC4-123EF95C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느낀 점 및 개선 사항</a:t>
            </a:r>
          </a:p>
        </p:txBody>
      </p:sp>
      <p:pic>
        <p:nvPicPr>
          <p:cNvPr id="4" name="그림 3" descr="패턴, 직사각형, 다채로움, 도표이(가) 표시된 사진&#10;&#10;자동 생성된 설명">
            <a:extLst>
              <a:ext uri="{FF2B5EF4-FFF2-40B4-BE49-F238E27FC236}">
                <a16:creationId xmlns:a16="http://schemas.microsoft.com/office/drawing/2014/main" id="{EC8B86C6-D176-74CB-B183-6B637F8E3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921" y="2540144"/>
            <a:ext cx="3562350" cy="2886075"/>
          </a:xfrm>
          <a:prstGeom prst="rect">
            <a:avLst/>
          </a:prstGeom>
        </p:spPr>
      </p:pic>
      <p:pic>
        <p:nvPicPr>
          <p:cNvPr id="5" name="그림 4" descr="스크린샷, 도표, 직사각형, 라인이(가) 표시된 사진&#10;&#10;자동 생성된 설명">
            <a:extLst>
              <a:ext uri="{FF2B5EF4-FFF2-40B4-BE49-F238E27FC236}">
                <a16:creationId xmlns:a16="http://schemas.microsoft.com/office/drawing/2014/main" id="{864D1343-44AD-C5D8-2C0C-E2CAAF090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629" y="2530619"/>
            <a:ext cx="3600450" cy="28956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6ED49EA-2198-F2BA-4C59-DFC07FD4C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263" y="5510406"/>
            <a:ext cx="2821666" cy="575085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modified DFS</a:t>
            </a:r>
            <a:r>
              <a:rPr lang="ko-KR" altLang="en-US" dirty="0"/>
              <a:t>의 필요성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FF13ED7-AB5D-286D-B9BF-871C53139E5E}"/>
              </a:ext>
            </a:extLst>
          </p:cNvPr>
          <p:cNvSpPr txBox="1">
            <a:spLocks/>
          </p:cNvSpPr>
          <p:nvPr/>
        </p:nvSpPr>
        <p:spPr>
          <a:xfrm>
            <a:off x="8347661" y="5510406"/>
            <a:ext cx="1736386" cy="575085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14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20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8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6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14000"/>
              </a:lnSpc>
              <a:spcBef>
                <a:spcPts val="5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Char char="§"/>
              <a:defRPr sz="1400" kern="1200" spc="3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ko-KR"/>
              <a:t>DFS </a:t>
            </a:r>
            <a:r>
              <a:rPr lang="ko-KR" altLang="en-US" dirty="0"/>
              <a:t>알고리즘</a:t>
            </a:r>
          </a:p>
        </p:txBody>
      </p:sp>
    </p:spTree>
    <p:extLst>
      <p:ext uri="{BB962C8B-B14F-4D97-AF65-F5344CB8AC3E}">
        <p14:creationId xmlns:p14="http://schemas.microsoft.com/office/powerpoint/2010/main" val="1104392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FB71D-D20A-0AFF-D6C5-3C6FC25F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515360487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Custom 50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947</Words>
  <Application>Microsoft Office PowerPoint</Application>
  <PresentationFormat>와이드스크린</PresentationFormat>
  <Paragraphs>104</Paragraphs>
  <Slides>18</Slides>
  <Notes>18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Microsoft GothicNeo</vt:lpstr>
      <vt:lpstr>맑은 고딕</vt:lpstr>
      <vt:lpstr>함초롬돋움</vt:lpstr>
      <vt:lpstr>Arial</vt:lpstr>
      <vt:lpstr>Verdana</vt:lpstr>
      <vt:lpstr>Wingdings</vt:lpstr>
      <vt:lpstr>CosineVTI</vt:lpstr>
      <vt:lpstr>소개실 최종프로젝트</vt:lpstr>
      <vt:lpstr>목차</vt:lpstr>
      <vt:lpstr>프로젝트 목표 및 실험 환경</vt:lpstr>
      <vt:lpstr>프로젝트 목표 및 실험 환경</vt:lpstr>
      <vt:lpstr>변수 설명</vt:lpstr>
      <vt:lpstr>변수 설명</vt:lpstr>
      <vt:lpstr>변수 설명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프로그램 시연</vt:lpstr>
      <vt:lpstr>PowerPoint 프레젠테이션</vt:lpstr>
      <vt:lpstr>느낀 점 및 개선 사항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동협 이</dc:creator>
  <cp:lastModifiedBy>동협 이</cp:lastModifiedBy>
  <cp:revision>157</cp:revision>
  <dcterms:created xsi:type="dcterms:W3CDTF">2024-06-24T11:35:25Z</dcterms:created>
  <dcterms:modified xsi:type="dcterms:W3CDTF">2024-06-25T04:42:39Z</dcterms:modified>
</cp:coreProperties>
</file>